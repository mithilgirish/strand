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strand-87qa.onrender.com/docs" TargetMode="External"/><Relationship Id="rId1" Type="http://schemas.openxmlformats.org/officeDocument/2006/relationships/hyperlink" Target="https://strand-iota.vercel.app" TargetMode="Externa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46E3B7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46E3B7">
              <a:alpha val="5000"/>
            </a:srgbClr>
          </a:solidFill>
        </p:spPr>
      </p:sp>
      <p:pic>
        <p:nvPicPr>
          <p:cNvPr id="4" name="Image 0" descr="strand_ic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685800"/>
            <a:ext cx="1737360" cy="950976"/>
          </a:xfrm>
          <a:prstGeom prst="rect">
            <a:avLst/>
          </a:prstGeom>
        </p:spPr>
      </p:pic>
      <p:pic>
        <p:nvPicPr>
          <p:cNvPr id="5" name="Image 1" descr="strand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208" y="1737360"/>
            <a:ext cx="338328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60704" y="246888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100" dirty="0">
                <a:solidFill>
                  <a:srgbClr val="F3EFE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AUTONOMOUS INTELLIGENCE LAYER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1060704" y="2944368"/>
            <a:ext cx="10058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Hyperscale Infrastructure Delivery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592928" y="3611880"/>
            <a:ext cx="1005840" cy="16459"/>
          </a:xfrm>
          <a:prstGeom prst="rect">
            <a:avLst/>
          </a:prstGeom>
          <a:solidFill>
            <a:srgbClr val="343434"/>
          </a:solidFill>
        </p:spPr>
      </p:sp>
      <p:sp>
        <p:nvSpPr>
          <p:cNvPr id="9" name="Shape 5"/>
          <p:cNvSpPr/>
          <p:nvPr/>
        </p:nvSpPr>
        <p:spPr>
          <a:xfrm>
            <a:off x="906628" y="3977640"/>
            <a:ext cx="3246120" cy="960120"/>
          </a:xfrm>
          <a:prstGeom prst="roundRect">
            <a:avLst>
              <a:gd name="adj" fmla="val 8571"/>
            </a:avLst>
          </a:prstGeom>
          <a:solidFill>
            <a:srgbClr val="232323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35228" y="411480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5-CORE AGENT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135228" y="4434840"/>
            <a:ext cx="2788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LangGraph Network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472788" y="3977640"/>
            <a:ext cx="3246120" cy="960120"/>
          </a:xfrm>
          <a:prstGeom prst="roundRect">
            <a:avLst>
              <a:gd name="adj" fmla="val 8571"/>
            </a:avLst>
          </a:prstGeom>
          <a:solidFill>
            <a:srgbClr val="232323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01388" y="411480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GRAPHRAG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701388" y="4434840"/>
            <a:ext cx="2788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Neo4j + ChromaDB + BM25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38948" y="3977640"/>
            <a:ext cx="3246120" cy="960120"/>
          </a:xfrm>
          <a:prstGeom prst="roundRect">
            <a:avLst>
              <a:gd name="adj" fmla="val 8571"/>
            </a:avLst>
          </a:prstGeom>
          <a:solidFill>
            <a:srgbClr val="232323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67548" y="4114800"/>
            <a:ext cx="2788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OFFLINE-FIRST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8267548" y="4434840"/>
            <a:ext cx="2788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Resilience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2255368" y="53492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255368" y="534924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Web App · Vercel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861408" y="534924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61408" y="5349240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Cluster · Render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741768" y="53492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741768" y="53492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 AI Hackathon 2.0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0080" y="62636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8C8C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STRAND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Fragmented silos are costing hyperscale projects millions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1A1A1A"/>
          </a:solidFill>
        </p:spPr>
      </p:sp>
      <p:sp>
        <p:nvSpPr>
          <p:cNvPr id="5" name="Text 3"/>
          <p:cNvSpPr/>
          <p:nvPr/>
        </p:nvSpPr>
        <p:spPr>
          <a:xfrm>
            <a:off x="960120" y="214884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HYPERSCALE CRISIS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475488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46E3B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67%</a:t>
            </a:r>
            <a:endParaRPr lang="en-US" sz="4400" dirty="0"/>
          </a:p>
          <a:p>
            <a:pPr marL="0" indent="0">
              <a:buNone/>
            </a:pPr>
            <a:r>
              <a:rPr lang="en-US" sz="1500" dirty="0">
                <a:solidFill>
                  <a:srgbClr val="F3EFE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of data center projects suffer schedule overruns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60120" y="397764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$2M / day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443484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 impact when the critical path slips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4983480"/>
            <a:ext cx="4754880" cy="10973"/>
          </a:xfrm>
          <a:prstGeom prst="rect">
            <a:avLst/>
          </a:prstGeom>
          <a:solidFill>
            <a:srgbClr val="343434"/>
          </a:solidFill>
        </p:spPr>
      </p:sp>
      <p:sp>
        <p:nvSpPr>
          <p:cNvPr id="10" name="Text 8"/>
          <p:cNvSpPr/>
          <p:nvPr/>
        </p:nvSpPr>
        <p:spPr>
          <a:xfrm>
            <a:off x="960120" y="5166360"/>
            <a:ext cx="475488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Specifications, submittals, and field records live disconnected across PDFs, Procore, Primavera P6, and Maximo — 40,000+ components per project, no shared source of truth.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18288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4884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STRAND SOLUTION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19672" y="2560320"/>
            <a:ext cx="47548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Shift quality control to the extreme left — before manufacturing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519672" y="3593592"/>
            <a:ext cx="82296" cy="82296"/>
          </a:xfrm>
          <a:prstGeom prst="ellipse">
            <a:avLst/>
          </a:prstGeom>
          <a:solidFill>
            <a:srgbClr val="46E3B7"/>
          </a:solidFill>
        </p:spPr>
      </p:sp>
      <p:sp>
        <p:nvSpPr>
          <p:cNvPr id="15" name="Text 13"/>
          <p:cNvSpPr/>
          <p:nvPr/>
        </p:nvSpPr>
        <p:spPr>
          <a:xfrm>
            <a:off x="6766560" y="3447288"/>
            <a:ext cx="448056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A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Converts static PDFs and CAD drawings into a living Parametric Knowledge Graph (PKG)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19672" y="4370832"/>
            <a:ext cx="82296" cy="82296"/>
          </a:xfrm>
          <a:prstGeom prst="ellipse">
            <a:avLst/>
          </a:prstGeom>
          <a:solidFill>
            <a:srgbClr val="46E3B7"/>
          </a:solidFill>
        </p:spPr>
      </p:sp>
      <p:sp>
        <p:nvSpPr>
          <p:cNvPr id="17" name="Text 15"/>
          <p:cNvSpPr/>
          <p:nvPr/>
        </p:nvSpPr>
        <p:spPr>
          <a:xfrm>
            <a:off x="6766560" y="4224528"/>
            <a:ext cx="448056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A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Unifies specs, submittals, and field records into one queryable source of truth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19672" y="5148072"/>
            <a:ext cx="82296" cy="82296"/>
          </a:xfrm>
          <a:prstGeom prst="ellipse">
            <a:avLst/>
          </a:prstGeom>
          <a:solidFill>
            <a:srgbClr val="46E3B7"/>
          </a:solidFill>
        </p:spPr>
      </p:sp>
      <p:sp>
        <p:nvSpPr>
          <p:cNvPr id="19" name="Text 17"/>
          <p:cNvSpPr/>
          <p:nvPr/>
        </p:nvSpPr>
        <p:spPr>
          <a:xfrm>
            <a:off x="6766560" y="5001768"/>
            <a:ext cx="448056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A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Surfaces non-conformance before an out-of-spec unit ever reaches the site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19672" y="5513070"/>
            <a:ext cx="475488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C8C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“The Delayed Cost” — by the time a mis-spec cooling unit lands on site, a 3-month critical-path delay is already locked in.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MATHEMATICAL 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FE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R₀ Contagion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949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Epidemiological math calculates the exact disruption blast radius of a component non-conformance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989320" cy="1417320"/>
          </a:xfrm>
          <a:prstGeom prst="roundRect">
            <a:avLst>
              <a:gd name="adj" fmla="val 6452"/>
            </a:avLst>
          </a:prstGeom>
          <a:solidFill>
            <a:srgbClr val="232323"/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95728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6E3B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</a:t>
            </a:r>
            <a:r>
              <a:rPr lang="en-US" sz="1600" b="1" baseline="-40000" dirty="0">
                <a:solidFill>
                  <a:srgbClr val="46E3B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r>
              <a:rPr lang="en-US" sz="2600" b="1" dirty="0">
                <a:solidFill>
                  <a:srgbClr val="F3EFE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=  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331720" y="2395728"/>
            <a:ext cx="4114800" cy="41148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dirty="0">
                <a:solidFill>
                  <a:srgbClr val="F3EF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downstream_count + 2 × critical_downstream_count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31720" y="2816352"/>
            <a:ext cx="3931920" cy="12802"/>
          </a:xfrm>
          <a:prstGeom prst="rect">
            <a:avLst/>
          </a:prstGeom>
          <a:solidFill>
            <a:srgbClr val="46E3B7"/>
          </a:solidFill>
        </p:spPr>
      </p:sp>
      <p:sp>
        <p:nvSpPr>
          <p:cNvPr id="9" name="Text 7"/>
          <p:cNvSpPr/>
          <p:nvPr/>
        </p:nvSpPr>
        <p:spPr>
          <a:xfrm>
            <a:off x="2331720" y="2852928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F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normalizer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54864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threshold: if R₀ &gt; 5.0, Guardian triggers a full cascade — Planner and Scheduler rebuild the NetworkX Critical Path Method (CPM) graph automatically.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553712"/>
            <a:ext cx="5989320" cy="1417320"/>
          </a:xfrm>
          <a:prstGeom prst="roundRect">
            <a:avLst>
              <a:gd name="adj" fmla="val 6452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71830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HUMAN-IN-THE-LOOP GATE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5029200"/>
            <a:ext cx="548640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write operation — issuing NCRs, altering live schedules — requires JWT-signed human sign-off, routed through a Redis approval manager before it takes effect.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78040" y="2148840"/>
            <a:ext cx="4343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C8C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STATE FLOW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78040" y="2514600"/>
            <a:ext cx="4343400" cy="73152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0920" y="2697480"/>
            <a:ext cx="365760" cy="365760"/>
          </a:xfrm>
          <a:prstGeom prst="ellipse">
            <a:avLst/>
          </a:prstGeom>
          <a:solidFill>
            <a:srgbClr val="46E3B7">
              <a:alpha val="22000"/>
            </a:srgbClr>
          </a:solidFill>
          <a:ln w="15875">
            <a:solidFill>
              <a:srgbClr val="46E3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26974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0" y="2606040"/>
            <a:ext cx="3429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EFE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Guardian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863840" y="2898648"/>
            <a:ext cx="3429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non-conformance, computes R₀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66733" y="3228340"/>
            <a:ext cx="365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78040" y="3410712"/>
            <a:ext cx="4343400" cy="73152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3593592"/>
            <a:ext cx="365760" cy="365760"/>
          </a:xfrm>
          <a:prstGeom prst="ellipse">
            <a:avLst/>
          </a:prstGeom>
          <a:solidFill>
            <a:srgbClr val="46E3B7">
              <a:alpha val="22000"/>
            </a:srgbClr>
          </a:solidFill>
          <a:ln w="15875">
            <a:solidFill>
              <a:srgbClr val="46E3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359359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0" y="3502152"/>
            <a:ext cx="3429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EFE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Planner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863840" y="3794760"/>
            <a:ext cx="3429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Maps downstream dependency impact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66733" y="4126992"/>
            <a:ext cx="365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78040" y="4306824"/>
            <a:ext cx="4343400" cy="73152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4489704"/>
            <a:ext cx="365760" cy="365760"/>
          </a:xfrm>
          <a:prstGeom prst="ellipse">
            <a:avLst/>
          </a:prstGeom>
          <a:solidFill>
            <a:srgbClr val="46E3B7">
              <a:alpha val="22000"/>
            </a:srgbClr>
          </a:solidFill>
          <a:ln w="15875">
            <a:solidFill>
              <a:srgbClr val="46E3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448970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0" y="4398264"/>
            <a:ext cx="3429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EFE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Scheduler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863840" y="4690872"/>
            <a:ext cx="3429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Rebuilds CPM critical path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66733" y="5023104"/>
            <a:ext cx="365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178040" y="5202936"/>
            <a:ext cx="4343400" cy="73152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60920" y="5385816"/>
            <a:ext cx="365760" cy="365760"/>
          </a:xfrm>
          <a:prstGeom prst="ellipse">
            <a:avLst/>
          </a:prstGeom>
          <a:solidFill>
            <a:srgbClr val="46E3B7">
              <a:alpha val="22000"/>
            </a:srgbClr>
          </a:solidFill>
          <a:ln w="15875">
            <a:solidFill>
              <a:srgbClr val="46E3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538581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63840" y="5294376"/>
            <a:ext cx="3429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EFE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Oracle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863840" y="5586984"/>
            <a:ext cx="3429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Forecasts SLA &amp; cost exposure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Hybrid GraphRAG &amp; AST Cypher Security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92808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B3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VECTOR RAG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6634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Retrieves text similarity only — fails to capture physical BIM component relationships and cross-document dependencies.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36792" y="169164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1A1A1A"/>
          </a:solidFill>
        </p:spPr>
      </p:sp>
      <p:sp>
        <p:nvSpPr>
          <p:cNvPr id="8" name="Text 6"/>
          <p:cNvSpPr/>
          <p:nvPr/>
        </p:nvSpPr>
        <p:spPr>
          <a:xfrm>
            <a:off x="6611112" y="1892808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STRAND HYBRID GRAPHRAG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11112" y="2240280"/>
            <a:ext cx="46634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3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 search + BM25 keyword matching + Neo4j 1-hop BIM neighborhood traversal — grounded in physical reality, not just text.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52120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9476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RECIPROCAL RANK FUSION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46634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Merges dense ChromaDB vector search with sparse rank_bm25 keyword matches (RRF_k = 60) into one ranked candidate set.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498348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7A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1-HOP BIM NEIGHBORHOOD TRAVERSAL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466344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spec_dna_id from top vector hits to pull DERIVES_FROM and VIOLATES relationships from Neo4j into LLM context.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36792" y="3520440"/>
            <a:ext cx="5212080" cy="2651760"/>
          </a:xfrm>
          <a:prstGeom prst="roundRect">
            <a:avLst>
              <a:gd name="adj" fmla="val 3448"/>
            </a:avLst>
          </a:prstGeom>
          <a:solidFill>
            <a:srgbClr val="232323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6792" y="3520440"/>
            <a:ext cx="5212080" cy="2651760"/>
          </a:xfrm>
          <a:prstGeom prst="roundRect">
            <a:avLst>
              <a:gd name="adj" fmla="val 3448"/>
            </a:avLst>
          </a:prstGeom>
          <a:solidFill>
            <a:srgbClr val="1A1A1A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379476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 CYPHER SECURITY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11112" y="4242816"/>
            <a:ext cx="73152" cy="73152"/>
          </a:xfrm>
          <a:prstGeom prst="ellipse">
            <a:avLst/>
          </a:prstGeom>
          <a:solidFill>
            <a:srgbClr val="46E3B7"/>
          </a:solidFill>
        </p:spPr>
      </p:sp>
      <p:sp>
        <p:nvSpPr>
          <p:cNvPr id="19" name="Text 17"/>
          <p:cNvSpPr/>
          <p:nvPr/>
        </p:nvSpPr>
        <p:spPr>
          <a:xfrm>
            <a:off x="6830568" y="4105656"/>
            <a:ext cx="4480560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Rejects CREATE, MERGE, and DROP queries generated by the LLM before execution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11112" y="4901184"/>
            <a:ext cx="73152" cy="73152"/>
          </a:xfrm>
          <a:prstGeom prst="ellipse">
            <a:avLst/>
          </a:prstGeom>
          <a:solidFill>
            <a:srgbClr val="46E3B7"/>
          </a:solidFill>
        </p:spPr>
      </p:sp>
      <p:sp>
        <p:nvSpPr>
          <p:cNvPr id="21" name="Text 19"/>
          <p:cNvSpPr/>
          <p:nvPr/>
        </p:nvSpPr>
        <p:spPr>
          <a:xfrm>
            <a:off x="6830568" y="4764024"/>
            <a:ext cx="4480560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Injects {tenant_id: $tenant_id} into every pattern for strict multi-tenant isolation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11112" y="5559552"/>
            <a:ext cx="73152" cy="73152"/>
          </a:xfrm>
          <a:prstGeom prst="ellipse">
            <a:avLst/>
          </a:prstGeom>
          <a:solidFill>
            <a:srgbClr val="46E3B7"/>
          </a:solidFill>
        </p:spPr>
      </p:sp>
      <p:sp>
        <p:nvSpPr>
          <p:cNvPr id="23" name="Text 21"/>
          <p:cNvSpPr/>
          <p:nvPr/>
        </p:nvSpPr>
        <p:spPr>
          <a:xfrm>
            <a:off x="6830568" y="5422392"/>
            <a:ext cx="4480560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Parses query structure via AST — not string matching — to close injection paths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FIELD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3EFE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Edge Resilience &amp; Enterprise Ecosystem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331720" cy="4617720"/>
          </a:xfrm>
          <a:prstGeom prst="roundRect">
            <a:avLst>
              <a:gd name="adj" fmla="val 8627"/>
            </a:avLst>
          </a:prstGeom>
          <a:solidFill>
            <a:srgbClr val="000000"/>
          </a:solidFill>
          <a:ln w="25400">
            <a:solidFill>
              <a:srgbClr val="3434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92808"/>
            <a:ext cx="2148840" cy="4215384"/>
          </a:xfrm>
          <a:prstGeom prst="roundRect">
            <a:avLst>
              <a:gd name="adj" fmla="val 4255"/>
            </a:avLst>
          </a:prstGeom>
          <a:solidFill>
            <a:srgbClr val="232323"/>
          </a:solidFill>
        </p:spPr>
      </p:sp>
      <p:sp>
        <p:nvSpPr>
          <p:cNvPr id="6" name="Text 4"/>
          <p:cNvSpPr/>
          <p:nvPr/>
        </p:nvSpPr>
        <p:spPr>
          <a:xfrm>
            <a:off x="1097280" y="2075688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 STATUS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2468880"/>
            <a:ext cx="128016" cy="128016"/>
          </a:xfrm>
          <a:prstGeom prst="ellipse">
            <a:avLst/>
          </a:prstGeom>
          <a:solidFill>
            <a:srgbClr val="46E3B7"/>
          </a:solidFill>
        </p:spPr>
      </p:sp>
      <p:sp>
        <p:nvSpPr>
          <p:cNvPr id="8" name="Text 6"/>
          <p:cNvSpPr/>
          <p:nvPr/>
        </p:nvSpPr>
        <p:spPr>
          <a:xfrm>
            <a:off x="1325880" y="2423160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3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field notes queued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97280" y="2743200"/>
            <a:ext cx="128016" cy="128016"/>
          </a:xfrm>
          <a:prstGeom prst="ellipse">
            <a:avLst/>
          </a:prstGeom>
          <a:solidFill>
            <a:srgbClr val="8C8C89"/>
          </a:solidFill>
        </p:spPr>
      </p:sp>
      <p:sp>
        <p:nvSpPr>
          <p:cNvPr id="10" name="Text 8"/>
          <p:cNvSpPr/>
          <p:nvPr/>
        </p:nvSpPr>
        <p:spPr>
          <a:xfrm>
            <a:off x="1325880" y="2697480"/>
            <a:ext cx="1600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 — cellular blackout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97280" y="3154680"/>
            <a:ext cx="1783080" cy="10973"/>
          </a:xfrm>
          <a:prstGeom prst="rect">
            <a:avLst/>
          </a:prstGeom>
          <a:solidFill>
            <a:srgbClr val="343434"/>
          </a:solidFill>
        </p:spPr>
      </p:sp>
      <p:sp>
        <p:nvSpPr>
          <p:cNvPr id="12" name="Shape 10"/>
          <p:cNvSpPr/>
          <p:nvPr/>
        </p:nvSpPr>
        <p:spPr>
          <a:xfrm>
            <a:off x="1097280" y="3429000"/>
            <a:ext cx="1783080" cy="594360"/>
          </a:xfrm>
          <a:prstGeom prst="roundRect">
            <a:avLst>
              <a:gd name="adj" fmla="val 10769"/>
            </a:avLst>
          </a:prstGeom>
          <a:solidFill>
            <a:srgbClr val="262626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429000"/>
            <a:ext cx="15087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ChecklistScreen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97280" y="4206240"/>
            <a:ext cx="1783080" cy="594360"/>
          </a:xfrm>
          <a:prstGeom prst="roundRect">
            <a:avLst>
              <a:gd name="adj" fmla="val 10769"/>
            </a:avLst>
          </a:prstGeom>
          <a:solidFill>
            <a:srgbClr val="262626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4206240"/>
            <a:ext cx="15087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NcrLogScreen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97280" y="4983480"/>
            <a:ext cx="1783080" cy="594360"/>
          </a:xfrm>
          <a:prstGeom prst="roundRect">
            <a:avLst>
              <a:gd name="adj" fmla="val 10769"/>
            </a:avLst>
          </a:prstGeom>
          <a:solidFill>
            <a:srgbClr val="262626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983480"/>
            <a:ext cx="15087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SyncStatusScreen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1737360"/>
            <a:ext cx="8001000" cy="1207008"/>
          </a:xfrm>
          <a:prstGeom prst="roundRect">
            <a:avLst>
              <a:gd name="adj" fmla="val 6818"/>
            </a:avLst>
          </a:prstGeom>
          <a:solidFill>
            <a:srgbClr val="232323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883664"/>
            <a:ext cx="7452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6E3B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Zero-Connectivity Resilience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94760" y="2240280"/>
            <a:ext cx="745236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Native app uses 3-second AbortController timeouts and local AsyncStorage queues (local_ncrs) during cellular blackouts in data center basements.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520440" y="3108960"/>
            <a:ext cx="8001000" cy="1207008"/>
          </a:xfrm>
          <a:prstGeom prst="roundRect">
            <a:avLst>
              <a:gd name="adj" fmla="val 6818"/>
            </a:avLst>
          </a:prstGeom>
          <a:solidFill>
            <a:srgbClr val="232323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3255264"/>
            <a:ext cx="7452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6E3B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Automated Background Sync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94760" y="3611880"/>
            <a:ext cx="745236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Flushes pending field observations to the backend on network reconnect. Native headers strip Content-Type for valid audio multipart boundaries.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520440" y="4480560"/>
            <a:ext cx="8001000" cy="1207008"/>
          </a:xfrm>
          <a:prstGeom prst="roundRect">
            <a:avLst>
              <a:gd name="adj" fmla="val 6818"/>
            </a:avLst>
          </a:prstGeom>
          <a:solidFill>
            <a:srgbClr val="232323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4626864"/>
            <a:ext cx="7452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6E3B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Cross-Window OAuth Bridge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794760" y="4983480"/>
            <a:ext cx="745236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window.open + postMessage authorizes enterprise accounts without losing active dashboard state.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20440" y="58978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C8C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 ECOSYSTEM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20440" y="6217920"/>
            <a:ext cx="179451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65000"/>
            </a:srgbClr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6217920"/>
            <a:ext cx="179451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Procore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89270" y="6217920"/>
            <a:ext cx="179451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65000"/>
            </a:srgbClr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89270" y="6217920"/>
            <a:ext cx="179451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Autodesk APS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58100" y="6217920"/>
            <a:ext cx="179451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65000"/>
            </a:srgbClr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58100" y="6217920"/>
            <a:ext cx="179451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Primavera P6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726930" y="6217920"/>
            <a:ext cx="179451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65000"/>
            </a:srgbClr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26930" y="6217920"/>
            <a:ext cx="179451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F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IBM Maximo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Measurable ROI, live in production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40080" y="1645920"/>
          <a:ext cx="10908792" cy="278892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587752"/>
              </a:tblGrid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Operational Metric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Manual Process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STRAND Platform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Business ROI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Spec Audit Speed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4.5 hours / submittal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45 seconds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A6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98.3% time reduction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NCR Cycle Time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 business days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4.6 business days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A6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67.1% faster resolution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Unplanned Outages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— field surprises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Zero — R₀ predictive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A6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Millions saved in SLAs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Edge Resilience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0% — data lost offline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 — async queue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A6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 field data capture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7091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A1A1A"/>
          </a:solidFill>
        </p:spPr>
      </p:sp>
      <p:sp>
        <p:nvSpPr>
          <p:cNvPr id="6" name="Text 3"/>
          <p:cNvSpPr/>
          <p:nvPr/>
        </p:nvSpPr>
        <p:spPr>
          <a:xfrm>
            <a:off x="914400" y="4910328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COMMAND DASHBOARD</a:t>
            </a:r>
            <a:endParaRPr lang="en-US" sz="1100" dirty="0"/>
          </a:p>
        </p:txBody>
      </p:sp>
      <p:sp>
        <p:nvSpPr>
          <p:cNvPr id="4" name="Text 4"/>
          <p:cNvSpPr/>
          <p:nvPr/>
        </p:nvSpPr>
        <p:spPr>
          <a:xfrm>
            <a:off x="914400" y="521208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Vercel · Production</a:t>
            </a:r>
            <a:endParaRPr lang="en-US" sz="1200" dirty="0"/>
          </a:p>
        </p:txBody>
      </p:sp>
      <p:sp>
        <p:nvSpPr>
          <p:cNvPr id="8" name="Text 5">
            <a:hlinkClick r:id="rId1"/>
          </p:cNvPr>
          <p:cNvSpPr/>
          <p:nvPr/>
        </p:nvSpPr>
        <p:spPr>
          <a:xfrm>
            <a:off x="914400" y="5550408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F3EF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strand-iota.vercel.app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99632" y="47091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A1A1A"/>
          </a:solidFill>
        </p:spPr>
      </p:sp>
      <p:sp>
        <p:nvSpPr>
          <p:cNvPr id="10" name="Text 7"/>
          <p:cNvSpPr/>
          <p:nvPr/>
        </p:nvSpPr>
        <p:spPr>
          <a:xfrm>
            <a:off x="6473952" y="4910328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46E3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API ENGINE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73952" y="521208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 · FastAPI Cluster</a:t>
            </a:r>
            <a:endParaRPr lang="en-US" sz="1200" dirty="0"/>
          </a:p>
        </p:txBody>
      </p:sp>
      <p:sp>
        <p:nvSpPr>
          <p:cNvPr id="12" name="Text 9">
            <a:hlinkClick r:id="rId2"/>
          </p:cNvPr>
          <p:cNvSpPr/>
          <p:nvPr/>
        </p:nvSpPr>
        <p:spPr>
          <a:xfrm>
            <a:off x="6473952" y="5550408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F3EF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strand-87qa.onrender.com/docs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46E3B7">
              <a:alpha val="7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229600" y="3200400"/>
            <a:ext cx="6400800" cy="6400800"/>
          </a:xfrm>
          <a:prstGeom prst="ellipse">
            <a:avLst/>
          </a:prstGeom>
          <a:solidFill>
            <a:srgbClr val="46E3B7">
              <a:alpha val="6000"/>
            </a:srgbClr>
          </a:solidFill>
        </p:spPr>
      </p:sp>
      <p:pic>
        <p:nvPicPr>
          <p:cNvPr id="4" name="Image 0" descr="strand_ic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685800"/>
            <a:ext cx="1280160" cy="704088"/>
          </a:xfrm>
          <a:prstGeom prst="rect">
            <a:avLst/>
          </a:prstGeom>
        </p:spPr>
      </p:pic>
      <p:pic>
        <p:nvPicPr>
          <p:cNvPr id="5" name="Image 1" descr="strand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8" y="1508760"/>
            <a:ext cx="2743200" cy="3749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60704" y="21488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6E3B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“Building the Intelligence Layer for Hardware Scale.”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540868" y="306324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232323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15188" y="3337560"/>
            <a:ext cx="457200" cy="457200"/>
          </a:xfrm>
          <a:prstGeom prst="ellipse">
            <a:avLst/>
          </a:prstGeom>
          <a:solidFill>
            <a:srgbClr val="46E3B7">
              <a:alpha val="20000"/>
            </a:srgbClr>
          </a:solidFill>
          <a:ln w="15875">
            <a:solidFill>
              <a:srgbClr val="46E3B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15188" y="3977640"/>
            <a:ext cx="29718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EFE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Proven Agentic Architecture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15188" y="4663440"/>
            <a:ext cx="297180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core domain agents operating on one unified Parametric Knowledge Graph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35628" y="306324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232323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09948" y="3337560"/>
            <a:ext cx="457200" cy="457200"/>
          </a:xfrm>
          <a:prstGeom prst="ellipse">
            <a:avLst/>
          </a:prstGeom>
          <a:solidFill>
            <a:srgbClr val="46E3B7">
              <a:alpha val="20000"/>
            </a:srgbClr>
          </a:solidFill>
          <a:ln w="15875">
            <a:solidFill>
              <a:srgbClr val="46E3B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09948" y="3977640"/>
            <a:ext cx="29718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EFE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Enterprise Security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09948" y="4663440"/>
            <a:ext cx="297180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 Cypher sanitization, HITL sign-off gates, and offline-first mobile execution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0388" y="306324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232323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04708" y="3337560"/>
            <a:ext cx="457200" cy="457200"/>
          </a:xfrm>
          <a:prstGeom prst="ellipse">
            <a:avLst/>
          </a:prstGeom>
          <a:solidFill>
            <a:srgbClr val="46E3B7">
              <a:alpha val="20000"/>
            </a:srgbClr>
          </a:solidFill>
          <a:ln w="15875">
            <a:solidFill>
              <a:srgbClr val="46E3B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404708" y="3977640"/>
            <a:ext cx="29718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EFE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Mission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8404708" y="4663440"/>
            <a:ext cx="297180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7B7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built to power India's 2,700 MW data center infrastructure roadmap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40080" y="62636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C8C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STRAND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4230</Words>
  <Application>WPS Presentation</Application>
  <PresentationFormat>On-screen Show (16:9)</PresentationFormat>
  <Paragraphs>249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4" baseType="lpstr">
      <vt:lpstr>Arial</vt:lpstr>
      <vt:lpstr>SimSun</vt:lpstr>
      <vt:lpstr>Wingdings</vt:lpstr>
      <vt:lpstr>Century Schoolbook</vt:lpstr>
      <vt:lpstr>Epson MX Series DMP</vt:lpstr>
      <vt:lpstr>Century Schoolbook</vt:lpstr>
      <vt:lpstr>Century Schoolbook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Mithil Girish</cp:lastModifiedBy>
  <cp:revision>2</cp:revision>
  <dcterms:created xsi:type="dcterms:W3CDTF">2026-07-21T18:57:00Z</dcterms:created>
  <dcterms:modified xsi:type="dcterms:W3CDTF">2026-07-21T19:05:08Z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63F3F793B1AF4C2CBACDD95F0F8ABE9E_12</vt:lpwstr>
  </property>
  <property fmtid="{D5CDD505-2E9C-101B-9397-08002B2CF9AE}" pid="3" name="KSOProductBuildVer">
    <vt:lpwstr>2057-12.2.0.23206</vt:lpwstr>
  </property>
</Properties>
</file>